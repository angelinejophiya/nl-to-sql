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1F497D"/>
    <a:srgbClr val="F6D0B0"/>
    <a:srgbClr val="FFFFFF"/>
    <a:srgbClr val="B9B9B9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79954" y="1488095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28900" y="565544"/>
            <a:ext cx="10363200" cy="2076450"/>
          </a:xfrm>
        </p:spPr>
        <p:txBody>
          <a:bodyPr/>
          <a:lstStyle/>
          <a:p>
            <a:r>
              <a:rPr lang="en-IN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NATURAL LANGUAGE TO SQL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342" y="2359876"/>
            <a:ext cx="11697316" cy="2840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/>
              <a:t>Users struggle to query databases due to limited SQL knowledge. A system is needed to convert natural language into SQL and deliver instant results.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806515" y="212415"/>
            <a:ext cx="7931085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E46C0A"/>
                </a:solidFill>
              </a:rPr>
              <a:t>				</a:t>
            </a:r>
            <a:r>
              <a:rPr lang="en-US" sz="3200" b="1" dirty="0" err="1">
                <a:solidFill>
                  <a:srgbClr val="E46C0A"/>
                </a:solidFill>
              </a:rPr>
              <a:t>NLQuery</a:t>
            </a:r>
            <a:endParaRPr lang="en-US" sz="3200" b="1" dirty="0">
              <a:solidFill>
                <a:srgbClr val="E46C0A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DBEC-AB9C-A978-A71B-95ABB0C8C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8718" y="1524738"/>
            <a:ext cx="5384800" cy="4525962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E46C0A"/>
                </a:solidFill>
              </a:rPr>
              <a:t>Detailed Explanation: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F497D"/>
                </a:solidFill>
              </a:rPr>
              <a:t>Converts natural language queries into SQL automatically using AI.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F497D"/>
                </a:solidFill>
              </a:rPr>
              <a:t>Connects to the database, fetches schema, and executes queries.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F497D"/>
                </a:solidFill>
              </a:rPr>
              <a:t>Displays results instantly to the user.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E46C0A"/>
                </a:solidFill>
              </a:rPr>
              <a:t>Problem Addressed:</a:t>
            </a:r>
            <a:endParaRPr lang="en-US" sz="2000" dirty="0">
              <a:solidFill>
                <a:srgbClr val="E46C0A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F497D"/>
                </a:solidFill>
              </a:rPr>
              <a:t>Eliminates the need for SQL knowledge.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F497D"/>
                </a:solidFill>
              </a:rPr>
              <a:t>Reduces time and errors in database querying.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F497D"/>
                </a:solidFill>
              </a:rPr>
              <a:t>Makes database access easy for non-technical users.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F497D"/>
              </a:solidFill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CD7A8-026F-9630-F782-82C582916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39624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E46C0A"/>
                </a:solidFill>
              </a:rPr>
              <a:t>Innovation &amp; Uniqueness:</a:t>
            </a:r>
            <a:endParaRPr lang="en-US" sz="1800" dirty="0">
              <a:solidFill>
                <a:srgbClr val="E46C0A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1F497D"/>
                </a:solidFill>
              </a:rPr>
              <a:t>AI-driven natural language understanding for dynamic SQL generation.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1F497D"/>
                </a:solidFill>
              </a:rPr>
              <a:t>Real-time schema discovery and query execution.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1F497D"/>
                </a:solidFill>
              </a:rPr>
              <a:t>Bridges natural language and structured data seamlessly.</a:t>
            </a:r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95211" y="1018716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900331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4759" y="1874728"/>
            <a:ext cx="7422037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E46C0A"/>
                </a:solidFill>
              </a:rPr>
              <a:t>Technologies to be Used:</a:t>
            </a:r>
            <a:endParaRPr lang="en-US" sz="2800" dirty="0">
              <a:solidFill>
                <a:srgbClr val="E46C0A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1F497D"/>
                </a:solidFill>
              </a:rPr>
              <a:t>Programming Languages:</a:t>
            </a:r>
            <a:r>
              <a:rPr lang="en-US" sz="2800" dirty="0">
                <a:solidFill>
                  <a:srgbClr val="1F497D"/>
                </a:solidFill>
              </a:rPr>
              <a:t> Java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1F497D"/>
                </a:solidFill>
              </a:rPr>
              <a:t>Database:</a:t>
            </a:r>
            <a:r>
              <a:rPr lang="en-US" sz="2800" dirty="0">
                <a:solidFill>
                  <a:srgbClr val="1F497D"/>
                </a:solidFill>
              </a:rPr>
              <a:t> MySQL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1F497D"/>
                </a:solidFill>
              </a:rPr>
              <a:t>AI/ML:</a:t>
            </a:r>
            <a:r>
              <a:rPr lang="en-US" sz="2800" dirty="0">
                <a:solidFill>
                  <a:srgbClr val="1F497D"/>
                </a:solidFill>
              </a:rPr>
              <a:t> </a:t>
            </a:r>
            <a:r>
              <a:rPr lang="en-US" sz="2800" dirty="0" err="1">
                <a:solidFill>
                  <a:srgbClr val="1F497D"/>
                </a:solidFill>
              </a:rPr>
              <a:t>Ollama</a:t>
            </a:r>
            <a:r>
              <a:rPr lang="en-US" sz="2800" dirty="0">
                <a:solidFill>
                  <a:srgbClr val="1F497D"/>
                </a:solidFill>
              </a:rPr>
              <a:t> API for NL-to-SQL conversion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1F497D"/>
                </a:solidFill>
              </a:rPr>
              <a:t>Libraries/Frameworks:</a:t>
            </a:r>
            <a:r>
              <a:rPr lang="en-US" sz="2800" dirty="0">
                <a:solidFill>
                  <a:srgbClr val="1F497D"/>
                </a:solidFill>
              </a:rPr>
              <a:t> JDBC, </a:t>
            </a:r>
            <a:r>
              <a:rPr lang="en-US" sz="2800" dirty="0" err="1">
                <a:solidFill>
                  <a:srgbClr val="1F497D"/>
                </a:solidFill>
              </a:rPr>
              <a:t>OkHttp</a:t>
            </a:r>
            <a:r>
              <a:rPr lang="en-US" sz="2800" dirty="0">
                <a:solidFill>
                  <a:srgbClr val="1F497D"/>
                </a:solidFill>
              </a:rPr>
              <a:t>, JSON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1F497D"/>
                </a:solidFill>
              </a:rPr>
              <a:t>Hardware:</a:t>
            </a:r>
            <a:r>
              <a:rPr lang="en-US" sz="2800" dirty="0">
                <a:solidFill>
                  <a:srgbClr val="1F497D"/>
                </a:solidFill>
              </a:rPr>
              <a:t> Standard desktop/laptop, local or cloud database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72000" y="63817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 descr="A diagram of a computer&#10;&#10;AI-generated content may be incorrect.">
            <a:extLst>
              <a:ext uri="{FF2B5EF4-FFF2-40B4-BE49-F238E27FC236}">
                <a16:creationId xmlns:a16="http://schemas.microsoft.com/office/drawing/2014/main" id="{33DA8920-038B-A3B9-D457-18E6F6228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396" y="782426"/>
            <a:ext cx="2595055" cy="5599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841608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80690" y="1658095"/>
            <a:ext cx="11390722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E46C0A"/>
                </a:solidFill>
              </a:rPr>
              <a:t>Feasibility:</a:t>
            </a:r>
            <a:endParaRPr lang="en-US" sz="2400" dirty="0">
              <a:solidFill>
                <a:srgbClr val="E46C0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F497D"/>
                </a:solidFill>
              </a:rPr>
              <a:t>Java, MySQL, and AI APIs make implementation possible.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F497D"/>
                </a:solidFill>
              </a:rPr>
              <a:t>Runs on standard desktop/laptop hardware.</a:t>
            </a:r>
          </a:p>
          <a:p>
            <a:r>
              <a:rPr lang="en-US" sz="2400" b="1" dirty="0">
                <a:solidFill>
                  <a:srgbClr val="E46C0A"/>
                </a:solidFill>
              </a:rPr>
              <a:t>Challenges &amp; Risks:</a:t>
            </a:r>
            <a:endParaRPr lang="en-US" sz="2400" dirty="0">
              <a:solidFill>
                <a:srgbClr val="E46C0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F497D"/>
                </a:solidFill>
              </a:rPr>
              <a:t>AI may generate incorrect SQL.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F497D"/>
                </a:solidFill>
              </a:rPr>
              <a:t>API/network timeouts.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F497D"/>
                </a:solidFill>
              </a:rPr>
              <a:t>Database schema changes.</a:t>
            </a:r>
          </a:p>
          <a:p>
            <a:r>
              <a:rPr lang="en-US" sz="2400" b="1" dirty="0">
                <a:solidFill>
                  <a:srgbClr val="E46C0A"/>
                </a:solidFill>
              </a:rPr>
              <a:t>Strategies:</a:t>
            </a:r>
            <a:endParaRPr lang="en-US" sz="2400" dirty="0">
              <a:solidFill>
                <a:srgbClr val="E46C0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F497D"/>
                </a:solidFill>
              </a:rPr>
              <a:t>Validate SQL before execution.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F497D"/>
                </a:solidFill>
              </a:rPr>
              <a:t>Handle errors and set timeouts.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F497D"/>
                </a:solidFill>
              </a:rPr>
              <a:t>Keep schema metadata updated.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22800" y="63944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VIDYUT-SHRISTHI’25-idea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778" y="6434415"/>
            <a:ext cx="138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818538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29255"/>
            <a:ext cx="93853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E46C0A"/>
                </a:solidFill>
              </a:rPr>
              <a:t>Potential Impact:</a:t>
            </a:r>
            <a:endParaRPr lang="en-US" sz="2800" dirty="0">
              <a:solidFill>
                <a:srgbClr val="E46C0A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F497D"/>
                </a:solidFill>
              </a:rPr>
              <a:t>Enables non-technical users to query databases easily.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F497D"/>
                </a:solidFill>
              </a:rPr>
              <a:t>Improves decision-making speed and accuracy.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F497D"/>
                </a:solidFill>
              </a:rPr>
              <a:t>Makes data access more inclusive and accessible.</a:t>
            </a:r>
          </a:p>
          <a:p>
            <a:r>
              <a:rPr lang="en-US" sz="2800" b="1" dirty="0">
                <a:solidFill>
                  <a:srgbClr val="E46C0A"/>
                </a:solidFill>
              </a:rPr>
              <a:t>Benefits:</a:t>
            </a:r>
            <a:endParaRPr lang="en-US" sz="2800" dirty="0">
              <a:solidFill>
                <a:srgbClr val="E46C0A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1F497D"/>
                </a:solidFill>
              </a:rPr>
              <a:t>Social:</a:t>
            </a:r>
            <a:r>
              <a:rPr lang="en-US" sz="2800" dirty="0">
                <a:solidFill>
                  <a:srgbClr val="1F497D"/>
                </a:solidFill>
              </a:rPr>
              <a:t> Empowers users with no SQL knowledge.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1F497D"/>
                </a:solidFill>
              </a:rPr>
              <a:t>Economic:</a:t>
            </a:r>
            <a:r>
              <a:rPr lang="en-US" sz="2800" dirty="0">
                <a:solidFill>
                  <a:srgbClr val="1F497D"/>
                </a:solidFill>
              </a:rPr>
              <a:t> Saves time and reduces errors in database operations.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1F497D"/>
                </a:solidFill>
              </a:rPr>
              <a:t>Technological:</a:t>
            </a:r>
            <a:r>
              <a:rPr lang="en-US" sz="2800" dirty="0">
                <a:solidFill>
                  <a:srgbClr val="1F497D"/>
                </a:solidFill>
              </a:rPr>
              <a:t> Encourages adoption of AI-assisted tools.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10100" y="63944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VIDYUT-SHRISTHI’25-idea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778" y="6421715"/>
            <a:ext cx="138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791275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82778" y="1682935"/>
            <a:ext cx="11814011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[1] A. Singh, R. Gupta, and P. Kumar, “Natural Language to SQL: A Survey,” </a:t>
            </a:r>
            <a:r>
              <a:rPr lang="en-US" sz="2400" i="1" dirty="0"/>
              <a:t>International Journal of Computer Applications</a:t>
            </a:r>
            <a:r>
              <a:rPr lang="en-US" sz="2400" dirty="0"/>
              <a:t>, vol. 182, no. 40, pp. 12–18, 2021.</a:t>
            </a:r>
          </a:p>
          <a:p>
            <a:r>
              <a:rPr lang="en-US" sz="2400" dirty="0"/>
              <a:t>[2] J. Li, X. Zhang, and M. Wang, “AI-Powered SQL Generation from Natural Language Queries,” </a:t>
            </a:r>
            <a:r>
              <a:rPr lang="en-US" sz="2400" i="1" dirty="0"/>
              <a:t>IEEE Access</a:t>
            </a:r>
            <a:r>
              <a:rPr lang="en-US" sz="2400" dirty="0"/>
              <a:t>, vol. 9, pp. 12345–12354, 2021.</a:t>
            </a:r>
          </a:p>
          <a:p>
            <a:r>
              <a:rPr lang="en-US" sz="2400" dirty="0"/>
              <a:t>[3] O. API Documentation, “</a:t>
            </a:r>
            <a:r>
              <a:rPr lang="en-US" sz="2400" dirty="0" err="1"/>
              <a:t>Ollama</a:t>
            </a:r>
            <a:r>
              <a:rPr lang="en-US" sz="2400" dirty="0"/>
              <a:t> AI Model API,” [Online]. Available: https://ollama.com/docs. [Accessed: Oct. 14, 2025].</a:t>
            </a:r>
          </a:p>
          <a:p>
            <a:r>
              <a:rPr lang="en-US" sz="2400" dirty="0"/>
              <a:t>[4] MySQL Documentation, “Connector/J: Java Database Connectivity,” [Online]. Available: https://dev.mysql.com/doc/connector-j/8.0/en/. [Accessed: Oct. 14, 2025].</a:t>
            </a:r>
          </a:p>
          <a:p>
            <a:r>
              <a:rPr lang="en-US" sz="2400" dirty="0"/>
              <a:t>[5] Square, “</a:t>
            </a:r>
            <a:r>
              <a:rPr lang="en-US" sz="2400" dirty="0" err="1"/>
              <a:t>OkHttp</a:t>
            </a:r>
            <a:r>
              <a:rPr lang="en-US" sz="2400" dirty="0"/>
              <a:t>: An HTTP &amp; HTTP/2 Client for Java Applications,” [Online]. Available: https://square.github.io/okhttp/. [Accessed: Oct. 14, 2025].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33900" y="63944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VIDYUT-SHRISTHI’25-idea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778" y="6421715"/>
            <a:ext cx="138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7763</TotalTime>
  <Words>526</Words>
  <Application>Microsoft Office PowerPoint</Application>
  <PresentationFormat>Widescreen</PresentationFormat>
  <Paragraphs>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NATURAL LANGUAGE TO SQL QUERY</vt:lpstr>
      <vt:lpstr>    NLQuery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Tharun Tamilmani</cp:lastModifiedBy>
  <cp:revision>157</cp:revision>
  <dcterms:created xsi:type="dcterms:W3CDTF">2013-12-12T18:46:50Z</dcterms:created>
  <dcterms:modified xsi:type="dcterms:W3CDTF">2025-12-17T12:07:42Z</dcterms:modified>
</cp:coreProperties>
</file>